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63" r:id="rId4"/>
    <p:sldId id="264" r:id="rId5"/>
    <p:sldId id="266" r:id="rId6"/>
    <p:sldId id="267" r:id="rId7"/>
    <p:sldId id="261" r:id="rId8"/>
    <p:sldId id="268" r:id="rId9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1"/>
      <p:bold r:id="rId12"/>
      <p:italic r:id="rId13"/>
      <p:boldItalic r:id="rId14"/>
    </p:embeddedFont>
    <p:embeddedFont>
      <p:font typeface="Roboto Slab" pitchFamily="2" charset="0"/>
      <p:regular r:id="rId15"/>
      <p:bold r:id="rId16"/>
    </p:embeddedFont>
    <p:embeddedFont>
      <p:font typeface="Vivaldi" panose="03020602050506090804" pitchFamily="66" charset="0"/>
      <p: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E584E98-F22C-4E6F-8C55-6CFEC2229C57}">
  <a:tblStyle styleId="{2E584E98-F22C-4E6F-8C55-6CFEC2229C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1408"/>
  </p:normalViewPr>
  <p:slideViewPr>
    <p:cSldViewPr snapToGrid="0">
      <p:cViewPr varScale="1">
        <p:scale>
          <a:sx n="81" d="100"/>
          <a:sy n="81" d="100"/>
        </p:scale>
        <p:origin x="1086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97EC5A1-636F-4B55-A93C-E3EF9B6A7EBB}" type="doc">
      <dgm:prSet loTypeId="urn:microsoft.com/office/officeart/2005/8/layout/process1" loCatId="process" qsTypeId="urn:microsoft.com/office/officeart/2005/8/quickstyle/3d3" qsCatId="3D" csTypeId="urn:microsoft.com/office/officeart/2005/8/colors/colorful4" csCatId="colorful" phldr="1"/>
      <dgm:spPr/>
      <dgm:t>
        <a:bodyPr/>
        <a:lstStyle/>
        <a:p>
          <a:endParaRPr lang="en-IN"/>
        </a:p>
      </dgm:t>
    </dgm:pt>
    <dgm:pt modelId="{6125155C-BC32-4C54-A1BB-BDEB53640DB5}">
      <dgm:prSet phldrT="[Text]" phldr="0"/>
      <dgm:spPr/>
      <dgm:t>
        <a:bodyPr/>
        <a:lstStyle/>
        <a:p>
          <a:r>
            <a:rPr lang="en-IN"/>
            <a:t>Customer Data</a:t>
          </a:r>
        </a:p>
      </dgm:t>
    </dgm:pt>
    <dgm:pt modelId="{A7CD849C-8CC1-4325-BF79-25884ECFB2F0}" type="parTrans" cxnId="{8C05AA4A-83BA-4DD5-B93A-1B3A9D3496D8}">
      <dgm:prSet/>
      <dgm:spPr/>
      <dgm:t>
        <a:bodyPr/>
        <a:lstStyle/>
        <a:p>
          <a:endParaRPr lang="en-IN"/>
        </a:p>
      </dgm:t>
    </dgm:pt>
    <dgm:pt modelId="{319FDE74-09CE-47DF-9E6E-D88643E16910}" type="sibTrans" cxnId="{8C05AA4A-83BA-4DD5-B93A-1B3A9D3496D8}">
      <dgm:prSet/>
      <dgm:spPr/>
      <dgm:t>
        <a:bodyPr/>
        <a:lstStyle/>
        <a:p>
          <a:endParaRPr lang="en-IN"/>
        </a:p>
      </dgm:t>
    </dgm:pt>
    <dgm:pt modelId="{2E6F526D-A77A-41E9-95BF-5C96D99F1064}">
      <dgm:prSet phldrT="[Text]" phldr="0"/>
      <dgm:spPr/>
      <dgm:t>
        <a:bodyPr/>
        <a:lstStyle/>
        <a:p>
          <a:r>
            <a:rPr lang="en-IN" dirty="0"/>
            <a:t>Decision Logic</a:t>
          </a:r>
        </a:p>
      </dgm:t>
    </dgm:pt>
    <dgm:pt modelId="{8E7198D3-68FA-4EF6-B44C-68E0CBDFC6A5}" type="parTrans" cxnId="{C6199DF7-71F8-49F6-8CF2-AD7B44EAD030}">
      <dgm:prSet/>
      <dgm:spPr/>
      <dgm:t>
        <a:bodyPr/>
        <a:lstStyle/>
        <a:p>
          <a:endParaRPr lang="en-IN"/>
        </a:p>
      </dgm:t>
    </dgm:pt>
    <dgm:pt modelId="{822C7424-03A7-4B09-8399-809387B08121}" type="sibTrans" cxnId="{C6199DF7-71F8-49F6-8CF2-AD7B44EAD030}">
      <dgm:prSet/>
      <dgm:spPr/>
      <dgm:t>
        <a:bodyPr/>
        <a:lstStyle/>
        <a:p>
          <a:endParaRPr lang="en-IN"/>
        </a:p>
      </dgm:t>
    </dgm:pt>
    <dgm:pt modelId="{680912E9-D695-419A-B3D4-1932C05EC870}">
      <dgm:prSet phldrT="[Text]" phldr="0"/>
      <dgm:spPr/>
      <dgm:t>
        <a:bodyPr/>
        <a:lstStyle/>
        <a:p>
          <a:r>
            <a:rPr lang="en-IN" dirty="0"/>
            <a:t>Actions</a:t>
          </a:r>
        </a:p>
      </dgm:t>
    </dgm:pt>
    <dgm:pt modelId="{24C7A997-BFDD-4132-9265-A3BAB8B1A751}" type="parTrans" cxnId="{0F5ED2BB-C0CB-48EC-8D49-147E7557A758}">
      <dgm:prSet/>
      <dgm:spPr/>
      <dgm:t>
        <a:bodyPr/>
        <a:lstStyle/>
        <a:p>
          <a:endParaRPr lang="en-IN"/>
        </a:p>
      </dgm:t>
    </dgm:pt>
    <dgm:pt modelId="{989C408A-80DA-4D96-8964-A9856BD7AAC9}" type="sibTrans" cxnId="{0F5ED2BB-C0CB-48EC-8D49-147E7557A758}">
      <dgm:prSet/>
      <dgm:spPr/>
      <dgm:t>
        <a:bodyPr/>
        <a:lstStyle/>
        <a:p>
          <a:endParaRPr lang="en-IN"/>
        </a:p>
      </dgm:t>
    </dgm:pt>
    <dgm:pt modelId="{FFDAC2BA-4D18-4DEA-89AC-156B93768D16}">
      <dgm:prSet phldrT="[Text]" phldr="0"/>
      <dgm:spPr/>
      <dgm:t>
        <a:bodyPr/>
        <a:lstStyle/>
        <a:p>
          <a:r>
            <a:rPr lang="en-IN"/>
            <a:t>Learning Loop</a:t>
          </a:r>
          <a:endParaRPr lang="en-IN" dirty="0"/>
        </a:p>
      </dgm:t>
    </dgm:pt>
    <dgm:pt modelId="{47BA676D-E36F-4310-BDB3-FDE99176865D}" type="parTrans" cxnId="{E1FF1260-7A6B-47C5-BC36-BF88C5326F0F}">
      <dgm:prSet/>
      <dgm:spPr/>
      <dgm:t>
        <a:bodyPr/>
        <a:lstStyle/>
        <a:p>
          <a:endParaRPr lang="en-IN"/>
        </a:p>
      </dgm:t>
    </dgm:pt>
    <dgm:pt modelId="{D73DD21C-D963-4FD3-A68A-E239CD1E47F4}" type="sibTrans" cxnId="{E1FF1260-7A6B-47C5-BC36-BF88C5326F0F}">
      <dgm:prSet/>
      <dgm:spPr/>
      <dgm:t>
        <a:bodyPr/>
        <a:lstStyle/>
        <a:p>
          <a:endParaRPr lang="en-IN"/>
        </a:p>
      </dgm:t>
    </dgm:pt>
    <dgm:pt modelId="{1069C4DC-BE0C-4515-A095-6A9112D9B28D}" type="pres">
      <dgm:prSet presAssocID="{C97EC5A1-636F-4B55-A93C-E3EF9B6A7EBB}" presName="Name0" presStyleCnt="0">
        <dgm:presLayoutVars>
          <dgm:dir/>
          <dgm:resizeHandles val="exact"/>
        </dgm:presLayoutVars>
      </dgm:prSet>
      <dgm:spPr/>
    </dgm:pt>
    <dgm:pt modelId="{558A65F7-1240-439E-8813-2C1F4C956B86}" type="pres">
      <dgm:prSet presAssocID="{6125155C-BC32-4C54-A1BB-BDEB53640DB5}" presName="node" presStyleLbl="node1" presStyleIdx="0" presStyleCnt="4">
        <dgm:presLayoutVars>
          <dgm:bulletEnabled val="1"/>
        </dgm:presLayoutVars>
      </dgm:prSet>
      <dgm:spPr/>
    </dgm:pt>
    <dgm:pt modelId="{61D74631-2083-4A88-9751-0966D5528CD1}" type="pres">
      <dgm:prSet presAssocID="{319FDE74-09CE-47DF-9E6E-D88643E16910}" presName="sibTrans" presStyleLbl="sibTrans2D1" presStyleIdx="0" presStyleCnt="3"/>
      <dgm:spPr/>
    </dgm:pt>
    <dgm:pt modelId="{11FC854E-8EB3-45D4-A2CA-1998ACABDE45}" type="pres">
      <dgm:prSet presAssocID="{319FDE74-09CE-47DF-9E6E-D88643E16910}" presName="connectorText" presStyleLbl="sibTrans2D1" presStyleIdx="0" presStyleCnt="3"/>
      <dgm:spPr/>
    </dgm:pt>
    <dgm:pt modelId="{4980248E-EB54-4833-A3C0-6FFD6D8BE692}" type="pres">
      <dgm:prSet presAssocID="{2E6F526D-A77A-41E9-95BF-5C96D99F1064}" presName="node" presStyleLbl="node1" presStyleIdx="1" presStyleCnt="4">
        <dgm:presLayoutVars>
          <dgm:bulletEnabled val="1"/>
        </dgm:presLayoutVars>
      </dgm:prSet>
      <dgm:spPr/>
    </dgm:pt>
    <dgm:pt modelId="{565B90FE-B868-4378-B36D-91722CBA0E2B}" type="pres">
      <dgm:prSet presAssocID="{822C7424-03A7-4B09-8399-809387B08121}" presName="sibTrans" presStyleLbl="sibTrans2D1" presStyleIdx="1" presStyleCnt="3"/>
      <dgm:spPr/>
    </dgm:pt>
    <dgm:pt modelId="{232872C3-ACE3-4755-9371-1EBC25581DD9}" type="pres">
      <dgm:prSet presAssocID="{822C7424-03A7-4B09-8399-809387B08121}" presName="connectorText" presStyleLbl="sibTrans2D1" presStyleIdx="1" presStyleCnt="3"/>
      <dgm:spPr/>
    </dgm:pt>
    <dgm:pt modelId="{521A5CEC-351A-4D02-A4DF-E05CB2FC97B4}" type="pres">
      <dgm:prSet presAssocID="{680912E9-D695-419A-B3D4-1932C05EC870}" presName="node" presStyleLbl="node1" presStyleIdx="2" presStyleCnt="4">
        <dgm:presLayoutVars>
          <dgm:bulletEnabled val="1"/>
        </dgm:presLayoutVars>
      </dgm:prSet>
      <dgm:spPr/>
    </dgm:pt>
    <dgm:pt modelId="{D8FF5863-2962-4F73-A85B-A78406CCFB7E}" type="pres">
      <dgm:prSet presAssocID="{989C408A-80DA-4D96-8964-A9856BD7AAC9}" presName="sibTrans" presStyleLbl="sibTrans2D1" presStyleIdx="2" presStyleCnt="3"/>
      <dgm:spPr/>
    </dgm:pt>
    <dgm:pt modelId="{2F91FA69-1B6D-4D3E-AFBD-E0C6E2A0C280}" type="pres">
      <dgm:prSet presAssocID="{989C408A-80DA-4D96-8964-A9856BD7AAC9}" presName="connectorText" presStyleLbl="sibTrans2D1" presStyleIdx="2" presStyleCnt="3"/>
      <dgm:spPr/>
    </dgm:pt>
    <dgm:pt modelId="{24B654E4-33E0-464C-8AC0-882598004850}" type="pres">
      <dgm:prSet presAssocID="{FFDAC2BA-4D18-4DEA-89AC-156B93768D16}" presName="node" presStyleLbl="node1" presStyleIdx="3" presStyleCnt="4">
        <dgm:presLayoutVars>
          <dgm:bulletEnabled val="1"/>
        </dgm:presLayoutVars>
      </dgm:prSet>
      <dgm:spPr/>
    </dgm:pt>
  </dgm:ptLst>
  <dgm:cxnLst>
    <dgm:cxn modelId="{B464CD14-978C-424A-BFF3-91BE478C12CA}" type="presOf" srcId="{FFDAC2BA-4D18-4DEA-89AC-156B93768D16}" destId="{24B654E4-33E0-464C-8AC0-882598004850}" srcOrd="0" destOrd="0" presId="urn:microsoft.com/office/officeart/2005/8/layout/process1"/>
    <dgm:cxn modelId="{32323D2C-0C8E-49FE-9F90-20E293B42094}" type="presOf" srcId="{680912E9-D695-419A-B3D4-1932C05EC870}" destId="{521A5CEC-351A-4D02-A4DF-E05CB2FC97B4}" srcOrd="0" destOrd="0" presId="urn:microsoft.com/office/officeart/2005/8/layout/process1"/>
    <dgm:cxn modelId="{E1FF1260-7A6B-47C5-BC36-BF88C5326F0F}" srcId="{C97EC5A1-636F-4B55-A93C-E3EF9B6A7EBB}" destId="{FFDAC2BA-4D18-4DEA-89AC-156B93768D16}" srcOrd="3" destOrd="0" parTransId="{47BA676D-E36F-4310-BDB3-FDE99176865D}" sibTransId="{D73DD21C-D963-4FD3-A68A-E239CD1E47F4}"/>
    <dgm:cxn modelId="{62795E62-0136-4449-B262-917AB76B954A}" type="presOf" srcId="{989C408A-80DA-4D96-8964-A9856BD7AAC9}" destId="{2F91FA69-1B6D-4D3E-AFBD-E0C6E2A0C280}" srcOrd="1" destOrd="0" presId="urn:microsoft.com/office/officeart/2005/8/layout/process1"/>
    <dgm:cxn modelId="{8C05AA4A-83BA-4DD5-B93A-1B3A9D3496D8}" srcId="{C97EC5A1-636F-4B55-A93C-E3EF9B6A7EBB}" destId="{6125155C-BC32-4C54-A1BB-BDEB53640DB5}" srcOrd="0" destOrd="0" parTransId="{A7CD849C-8CC1-4325-BF79-25884ECFB2F0}" sibTransId="{319FDE74-09CE-47DF-9E6E-D88643E16910}"/>
    <dgm:cxn modelId="{076CA658-AD20-469E-9FA1-D92D02E8968E}" type="presOf" srcId="{989C408A-80DA-4D96-8964-A9856BD7AAC9}" destId="{D8FF5863-2962-4F73-A85B-A78406CCFB7E}" srcOrd="0" destOrd="0" presId="urn:microsoft.com/office/officeart/2005/8/layout/process1"/>
    <dgm:cxn modelId="{B1B00188-21F3-4B9B-8495-1B4D05963900}" type="presOf" srcId="{6125155C-BC32-4C54-A1BB-BDEB53640DB5}" destId="{558A65F7-1240-439E-8813-2C1F4C956B86}" srcOrd="0" destOrd="0" presId="urn:microsoft.com/office/officeart/2005/8/layout/process1"/>
    <dgm:cxn modelId="{AD7A5B88-317E-4787-B8CB-663294EAFB97}" type="presOf" srcId="{822C7424-03A7-4B09-8399-809387B08121}" destId="{232872C3-ACE3-4755-9371-1EBC25581DD9}" srcOrd="1" destOrd="0" presId="urn:microsoft.com/office/officeart/2005/8/layout/process1"/>
    <dgm:cxn modelId="{175AAFA6-78E8-47C2-8D03-AF0AE66C2C00}" type="presOf" srcId="{2E6F526D-A77A-41E9-95BF-5C96D99F1064}" destId="{4980248E-EB54-4833-A3C0-6FFD6D8BE692}" srcOrd="0" destOrd="0" presId="urn:microsoft.com/office/officeart/2005/8/layout/process1"/>
    <dgm:cxn modelId="{E0FD77B3-428A-4342-813E-510C54A6F333}" type="presOf" srcId="{319FDE74-09CE-47DF-9E6E-D88643E16910}" destId="{11FC854E-8EB3-45D4-A2CA-1998ACABDE45}" srcOrd="1" destOrd="0" presId="urn:microsoft.com/office/officeart/2005/8/layout/process1"/>
    <dgm:cxn modelId="{0F5ED2BB-C0CB-48EC-8D49-147E7557A758}" srcId="{C97EC5A1-636F-4B55-A93C-E3EF9B6A7EBB}" destId="{680912E9-D695-419A-B3D4-1932C05EC870}" srcOrd="2" destOrd="0" parTransId="{24C7A997-BFDD-4132-9265-A3BAB8B1A751}" sibTransId="{989C408A-80DA-4D96-8964-A9856BD7AAC9}"/>
    <dgm:cxn modelId="{CFFE9FD1-4BA6-4B53-89A3-FC5C5575113D}" type="presOf" srcId="{C97EC5A1-636F-4B55-A93C-E3EF9B6A7EBB}" destId="{1069C4DC-BE0C-4515-A095-6A9112D9B28D}" srcOrd="0" destOrd="0" presId="urn:microsoft.com/office/officeart/2005/8/layout/process1"/>
    <dgm:cxn modelId="{A43844D9-8EE1-46BE-8352-9494494090B0}" type="presOf" srcId="{319FDE74-09CE-47DF-9E6E-D88643E16910}" destId="{61D74631-2083-4A88-9751-0966D5528CD1}" srcOrd="0" destOrd="0" presId="urn:microsoft.com/office/officeart/2005/8/layout/process1"/>
    <dgm:cxn modelId="{FD5FE5E0-2C01-4CD5-8920-355C391E0280}" type="presOf" srcId="{822C7424-03A7-4B09-8399-809387B08121}" destId="{565B90FE-B868-4378-B36D-91722CBA0E2B}" srcOrd="0" destOrd="0" presId="urn:microsoft.com/office/officeart/2005/8/layout/process1"/>
    <dgm:cxn modelId="{C6199DF7-71F8-49F6-8CF2-AD7B44EAD030}" srcId="{C97EC5A1-636F-4B55-A93C-E3EF9B6A7EBB}" destId="{2E6F526D-A77A-41E9-95BF-5C96D99F1064}" srcOrd="1" destOrd="0" parTransId="{8E7198D3-68FA-4EF6-B44C-68E0CBDFC6A5}" sibTransId="{822C7424-03A7-4B09-8399-809387B08121}"/>
    <dgm:cxn modelId="{7084673D-4DBF-489F-BF69-3FEF4DBEF0C6}" type="presParOf" srcId="{1069C4DC-BE0C-4515-A095-6A9112D9B28D}" destId="{558A65F7-1240-439E-8813-2C1F4C956B86}" srcOrd="0" destOrd="0" presId="urn:microsoft.com/office/officeart/2005/8/layout/process1"/>
    <dgm:cxn modelId="{F4B9715E-C4EF-4661-8B05-058291E0E85D}" type="presParOf" srcId="{1069C4DC-BE0C-4515-A095-6A9112D9B28D}" destId="{61D74631-2083-4A88-9751-0966D5528CD1}" srcOrd="1" destOrd="0" presId="urn:microsoft.com/office/officeart/2005/8/layout/process1"/>
    <dgm:cxn modelId="{9DBF4FC7-337A-44D0-BC1F-17778E440BFF}" type="presParOf" srcId="{61D74631-2083-4A88-9751-0966D5528CD1}" destId="{11FC854E-8EB3-45D4-A2CA-1998ACABDE45}" srcOrd="0" destOrd="0" presId="urn:microsoft.com/office/officeart/2005/8/layout/process1"/>
    <dgm:cxn modelId="{053627AC-EC80-4B9C-9450-2D5EFD00D1DD}" type="presParOf" srcId="{1069C4DC-BE0C-4515-A095-6A9112D9B28D}" destId="{4980248E-EB54-4833-A3C0-6FFD6D8BE692}" srcOrd="2" destOrd="0" presId="urn:microsoft.com/office/officeart/2005/8/layout/process1"/>
    <dgm:cxn modelId="{A31102BF-255B-4573-80E5-0A54727C55E5}" type="presParOf" srcId="{1069C4DC-BE0C-4515-A095-6A9112D9B28D}" destId="{565B90FE-B868-4378-B36D-91722CBA0E2B}" srcOrd="3" destOrd="0" presId="urn:microsoft.com/office/officeart/2005/8/layout/process1"/>
    <dgm:cxn modelId="{4EC30B5D-2396-43C0-8B78-9CC3D80BDCA8}" type="presParOf" srcId="{565B90FE-B868-4378-B36D-91722CBA0E2B}" destId="{232872C3-ACE3-4755-9371-1EBC25581DD9}" srcOrd="0" destOrd="0" presId="urn:microsoft.com/office/officeart/2005/8/layout/process1"/>
    <dgm:cxn modelId="{0DF649B7-3C70-44F7-8440-E1281FA9DC28}" type="presParOf" srcId="{1069C4DC-BE0C-4515-A095-6A9112D9B28D}" destId="{521A5CEC-351A-4D02-A4DF-E05CB2FC97B4}" srcOrd="4" destOrd="0" presId="urn:microsoft.com/office/officeart/2005/8/layout/process1"/>
    <dgm:cxn modelId="{5BD12AE8-CDD7-4EE9-A297-D7FE68604C2A}" type="presParOf" srcId="{1069C4DC-BE0C-4515-A095-6A9112D9B28D}" destId="{D8FF5863-2962-4F73-A85B-A78406CCFB7E}" srcOrd="5" destOrd="0" presId="urn:microsoft.com/office/officeart/2005/8/layout/process1"/>
    <dgm:cxn modelId="{2620EECE-76A1-4FBC-811F-D424FB982B31}" type="presParOf" srcId="{D8FF5863-2962-4F73-A85B-A78406CCFB7E}" destId="{2F91FA69-1B6D-4D3E-AFBD-E0C6E2A0C280}" srcOrd="0" destOrd="0" presId="urn:microsoft.com/office/officeart/2005/8/layout/process1"/>
    <dgm:cxn modelId="{DAC9D5CF-6BA0-4C1F-A4A8-BF7EB759C757}" type="presParOf" srcId="{1069C4DC-BE0C-4515-A095-6A9112D9B28D}" destId="{24B654E4-33E0-464C-8AC0-882598004850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D9C4FED-2F17-4FE1-8760-5B8565F845C9}" type="doc">
      <dgm:prSet loTypeId="urn:microsoft.com/office/officeart/2005/8/layout/process1" loCatId="process" qsTypeId="urn:microsoft.com/office/officeart/2005/8/quickstyle/3d4" qsCatId="3D" csTypeId="urn:microsoft.com/office/officeart/2005/8/colors/colorful3" csCatId="colorful" phldr="1"/>
      <dgm:spPr/>
      <dgm:t>
        <a:bodyPr/>
        <a:lstStyle/>
        <a:p>
          <a:endParaRPr lang="en-IN"/>
        </a:p>
      </dgm:t>
    </dgm:pt>
    <dgm:pt modelId="{10C7658B-B3B8-4E11-9432-478BCAA8A8C5}">
      <dgm:prSet phldrT="[Text]" phldr="0"/>
      <dgm:spPr/>
      <dgm:t>
        <a:bodyPr/>
        <a:lstStyle/>
        <a:p>
          <a:r>
            <a:rPr lang="en-IN" dirty="0"/>
            <a:t>Inputs</a:t>
          </a:r>
        </a:p>
      </dgm:t>
    </dgm:pt>
    <dgm:pt modelId="{3A0F803A-49FD-4F1C-A3F1-13E6C8B5B724}" type="parTrans" cxnId="{F2BAF70C-086B-4DF2-B390-5E6A9F753753}">
      <dgm:prSet/>
      <dgm:spPr/>
      <dgm:t>
        <a:bodyPr/>
        <a:lstStyle/>
        <a:p>
          <a:endParaRPr lang="en-IN"/>
        </a:p>
      </dgm:t>
    </dgm:pt>
    <dgm:pt modelId="{C1DD7863-1D98-4B25-BA51-D1ACF00A98B0}" type="sibTrans" cxnId="{F2BAF70C-086B-4DF2-B390-5E6A9F753753}">
      <dgm:prSet/>
      <dgm:spPr/>
      <dgm:t>
        <a:bodyPr/>
        <a:lstStyle/>
        <a:p>
          <a:endParaRPr lang="en-IN"/>
        </a:p>
      </dgm:t>
    </dgm:pt>
    <dgm:pt modelId="{4F5E2966-B6B2-4678-93B4-3803C792EC9A}">
      <dgm:prSet phldrT="[Text]" phldr="0"/>
      <dgm:spPr/>
      <dgm:t>
        <a:bodyPr/>
        <a:lstStyle/>
        <a:p>
          <a:r>
            <a:rPr lang="en-IN" dirty="0"/>
            <a:t>Actions</a:t>
          </a:r>
        </a:p>
      </dgm:t>
    </dgm:pt>
    <dgm:pt modelId="{BF123236-5EE5-4C88-A6F4-652CEC17B6A2}" type="parTrans" cxnId="{763D52E9-9D50-464B-B171-9238B37CD729}">
      <dgm:prSet/>
      <dgm:spPr/>
      <dgm:t>
        <a:bodyPr/>
        <a:lstStyle/>
        <a:p>
          <a:endParaRPr lang="en-IN"/>
        </a:p>
      </dgm:t>
    </dgm:pt>
    <dgm:pt modelId="{9242AD1B-8DF0-4FE0-973D-3DFD6712EBAB}" type="sibTrans" cxnId="{763D52E9-9D50-464B-B171-9238B37CD729}">
      <dgm:prSet/>
      <dgm:spPr/>
      <dgm:t>
        <a:bodyPr/>
        <a:lstStyle/>
        <a:p>
          <a:endParaRPr lang="en-IN"/>
        </a:p>
      </dgm:t>
    </dgm:pt>
    <dgm:pt modelId="{FCF7C441-7C83-4A5D-B1E0-9F127699BCDC}">
      <dgm:prSet phldrT="[Text]" phldr="0"/>
      <dgm:spPr/>
      <dgm:t>
        <a:bodyPr/>
        <a:lstStyle/>
        <a:p>
          <a:r>
            <a:rPr lang="en-IN" dirty="0"/>
            <a:t>Feedback loop</a:t>
          </a:r>
        </a:p>
      </dgm:t>
    </dgm:pt>
    <dgm:pt modelId="{22374711-55B7-44BC-9693-756D1E727951}" type="parTrans" cxnId="{1D5B524D-00F5-4ADC-82E2-09F8FFDDCDC0}">
      <dgm:prSet/>
      <dgm:spPr/>
      <dgm:t>
        <a:bodyPr/>
        <a:lstStyle/>
        <a:p>
          <a:endParaRPr lang="en-IN"/>
        </a:p>
      </dgm:t>
    </dgm:pt>
    <dgm:pt modelId="{453CFF2B-72E4-4417-8BA0-AC2967E9889A}" type="sibTrans" cxnId="{1D5B524D-00F5-4ADC-82E2-09F8FFDDCDC0}">
      <dgm:prSet/>
      <dgm:spPr/>
      <dgm:t>
        <a:bodyPr/>
        <a:lstStyle/>
        <a:p>
          <a:endParaRPr lang="en-IN"/>
        </a:p>
      </dgm:t>
    </dgm:pt>
    <dgm:pt modelId="{01351E4F-DB53-44F4-8EEB-5DABAA1E62AD}">
      <dgm:prSet phldrT="[Text]" phldr="0"/>
      <dgm:spPr/>
      <dgm:t>
        <a:bodyPr/>
        <a:lstStyle/>
        <a:p>
          <a:r>
            <a:rPr lang="en-IN" dirty="0"/>
            <a:t>Risk Score</a:t>
          </a:r>
        </a:p>
      </dgm:t>
    </dgm:pt>
    <dgm:pt modelId="{46699AC2-7873-48CA-97D2-40817B575F0E}" type="parTrans" cxnId="{5E3E9836-5FB8-40B1-98B5-BD288DFA6AAF}">
      <dgm:prSet/>
      <dgm:spPr/>
      <dgm:t>
        <a:bodyPr/>
        <a:lstStyle/>
        <a:p>
          <a:endParaRPr lang="en-IN"/>
        </a:p>
      </dgm:t>
    </dgm:pt>
    <dgm:pt modelId="{7290D006-827F-4D93-864E-26ED925E606A}" type="sibTrans" cxnId="{5E3E9836-5FB8-40B1-98B5-BD288DFA6AAF}">
      <dgm:prSet/>
      <dgm:spPr/>
      <dgm:t>
        <a:bodyPr/>
        <a:lstStyle/>
        <a:p>
          <a:endParaRPr lang="en-IN"/>
        </a:p>
      </dgm:t>
    </dgm:pt>
    <dgm:pt modelId="{6EAB72A0-2129-44DD-A1C1-E5F490CB8115}" type="pres">
      <dgm:prSet presAssocID="{ED9C4FED-2F17-4FE1-8760-5B8565F845C9}" presName="Name0" presStyleCnt="0">
        <dgm:presLayoutVars>
          <dgm:dir/>
          <dgm:resizeHandles val="exact"/>
        </dgm:presLayoutVars>
      </dgm:prSet>
      <dgm:spPr/>
    </dgm:pt>
    <dgm:pt modelId="{BB774484-701B-4A9C-B350-AEC40E24A45C}" type="pres">
      <dgm:prSet presAssocID="{10C7658B-B3B8-4E11-9432-478BCAA8A8C5}" presName="node" presStyleLbl="node1" presStyleIdx="0" presStyleCnt="4">
        <dgm:presLayoutVars>
          <dgm:bulletEnabled val="1"/>
        </dgm:presLayoutVars>
      </dgm:prSet>
      <dgm:spPr/>
    </dgm:pt>
    <dgm:pt modelId="{C6FC616A-CC22-48BE-8CE1-52C98A9B8647}" type="pres">
      <dgm:prSet presAssocID="{C1DD7863-1D98-4B25-BA51-D1ACF00A98B0}" presName="sibTrans" presStyleLbl="sibTrans2D1" presStyleIdx="0" presStyleCnt="3"/>
      <dgm:spPr/>
    </dgm:pt>
    <dgm:pt modelId="{83E71DC0-EB38-4CF9-9247-60117DC1DA77}" type="pres">
      <dgm:prSet presAssocID="{C1DD7863-1D98-4B25-BA51-D1ACF00A98B0}" presName="connectorText" presStyleLbl="sibTrans2D1" presStyleIdx="0" presStyleCnt="3"/>
      <dgm:spPr/>
    </dgm:pt>
    <dgm:pt modelId="{37631DB5-B7DA-4563-80A4-C9D5CDFF0417}" type="pres">
      <dgm:prSet presAssocID="{01351E4F-DB53-44F4-8EEB-5DABAA1E62AD}" presName="node" presStyleLbl="node1" presStyleIdx="1" presStyleCnt="4">
        <dgm:presLayoutVars>
          <dgm:bulletEnabled val="1"/>
        </dgm:presLayoutVars>
      </dgm:prSet>
      <dgm:spPr/>
    </dgm:pt>
    <dgm:pt modelId="{511BFE05-BA24-42BE-A3B0-5298D915A910}" type="pres">
      <dgm:prSet presAssocID="{7290D006-827F-4D93-864E-26ED925E606A}" presName="sibTrans" presStyleLbl="sibTrans2D1" presStyleIdx="1" presStyleCnt="3"/>
      <dgm:spPr/>
    </dgm:pt>
    <dgm:pt modelId="{3ECA8D5D-5CF2-498E-9B40-3F8BE8BF3268}" type="pres">
      <dgm:prSet presAssocID="{7290D006-827F-4D93-864E-26ED925E606A}" presName="connectorText" presStyleLbl="sibTrans2D1" presStyleIdx="1" presStyleCnt="3"/>
      <dgm:spPr/>
    </dgm:pt>
    <dgm:pt modelId="{FF2ACC79-4DAB-4BA2-B960-B590C77D717B}" type="pres">
      <dgm:prSet presAssocID="{4F5E2966-B6B2-4678-93B4-3803C792EC9A}" presName="node" presStyleLbl="node1" presStyleIdx="2" presStyleCnt="4">
        <dgm:presLayoutVars>
          <dgm:bulletEnabled val="1"/>
        </dgm:presLayoutVars>
      </dgm:prSet>
      <dgm:spPr/>
    </dgm:pt>
    <dgm:pt modelId="{D41023DC-5C94-4AF7-A5C8-1ACDA683C163}" type="pres">
      <dgm:prSet presAssocID="{9242AD1B-8DF0-4FE0-973D-3DFD6712EBAB}" presName="sibTrans" presStyleLbl="sibTrans2D1" presStyleIdx="2" presStyleCnt="3"/>
      <dgm:spPr/>
    </dgm:pt>
    <dgm:pt modelId="{6B22C2EB-DAAB-477C-853B-3D68C9808128}" type="pres">
      <dgm:prSet presAssocID="{9242AD1B-8DF0-4FE0-973D-3DFD6712EBAB}" presName="connectorText" presStyleLbl="sibTrans2D1" presStyleIdx="2" presStyleCnt="3"/>
      <dgm:spPr/>
    </dgm:pt>
    <dgm:pt modelId="{C4C41C6E-DC43-40CC-9D07-5C3E4AF4BDE8}" type="pres">
      <dgm:prSet presAssocID="{FCF7C441-7C83-4A5D-B1E0-9F127699BCDC}" presName="node" presStyleLbl="node1" presStyleIdx="3" presStyleCnt="4">
        <dgm:presLayoutVars>
          <dgm:bulletEnabled val="1"/>
        </dgm:presLayoutVars>
      </dgm:prSet>
      <dgm:spPr/>
    </dgm:pt>
  </dgm:ptLst>
  <dgm:cxnLst>
    <dgm:cxn modelId="{D8529808-4401-43F1-9B81-82FB20F99E8B}" type="presOf" srcId="{ED9C4FED-2F17-4FE1-8760-5B8565F845C9}" destId="{6EAB72A0-2129-44DD-A1C1-E5F490CB8115}" srcOrd="0" destOrd="0" presId="urn:microsoft.com/office/officeart/2005/8/layout/process1"/>
    <dgm:cxn modelId="{F2BAF70C-086B-4DF2-B390-5E6A9F753753}" srcId="{ED9C4FED-2F17-4FE1-8760-5B8565F845C9}" destId="{10C7658B-B3B8-4E11-9432-478BCAA8A8C5}" srcOrd="0" destOrd="0" parTransId="{3A0F803A-49FD-4F1C-A3F1-13E6C8B5B724}" sibTransId="{C1DD7863-1D98-4B25-BA51-D1ACF00A98B0}"/>
    <dgm:cxn modelId="{8BB82F16-FE46-473D-AADB-E6AD76F916D1}" type="presOf" srcId="{9242AD1B-8DF0-4FE0-973D-3DFD6712EBAB}" destId="{D41023DC-5C94-4AF7-A5C8-1ACDA683C163}" srcOrd="0" destOrd="0" presId="urn:microsoft.com/office/officeart/2005/8/layout/process1"/>
    <dgm:cxn modelId="{5E3E9836-5FB8-40B1-98B5-BD288DFA6AAF}" srcId="{ED9C4FED-2F17-4FE1-8760-5B8565F845C9}" destId="{01351E4F-DB53-44F4-8EEB-5DABAA1E62AD}" srcOrd="1" destOrd="0" parTransId="{46699AC2-7873-48CA-97D2-40817B575F0E}" sibTransId="{7290D006-827F-4D93-864E-26ED925E606A}"/>
    <dgm:cxn modelId="{1D5B524D-00F5-4ADC-82E2-09F8FFDDCDC0}" srcId="{ED9C4FED-2F17-4FE1-8760-5B8565F845C9}" destId="{FCF7C441-7C83-4A5D-B1E0-9F127699BCDC}" srcOrd="3" destOrd="0" parTransId="{22374711-55B7-44BC-9693-756D1E727951}" sibTransId="{453CFF2B-72E4-4417-8BA0-AC2967E9889A}"/>
    <dgm:cxn modelId="{78C2BB4D-ECC5-4800-9AC3-9936775A3DD9}" type="presOf" srcId="{C1DD7863-1D98-4B25-BA51-D1ACF00A98B0}" destId="{83E71DC0-EB38-4CF9-9247-60117DC1DA77}" srcOrd="1" destOrd="0" presId="urn:microsoft.com/office/officeart/2005/8/layout/process1"/>
    <dgm:cxn modelId="{3791604F-3BF8-4E69-A6B8-8A9B61736A53}" type="presOf" srcId="{7290D006-827F-4D93-864E-26ED925E606A}" destId="{3ECA8D5D-5CF2-498E-9B40-3F8BE8BF3268}" srcOrd="1" destOrd="0" presId="urn:microsoft.com/office/officeart/2005/8/layout/process1"/>
    <dgm:cxn modelId="{D4D9B376-162E-4E5E-8077-6190D9547463}" type="presOf" srcId="{7290D006-827F-4D93-864E-26ED925E606A}" destId="{511BFE05-BA24-42BE-A3B0-5298D915A910}" srcOrd="0" destOrd="0" presId="urn:microsoft.com/office/officeart/2005/8/layout/process1"/>
    <dgm:cxn modelId="{D10EC883-8F9D-4020-AF3C-658DEAEA85C4}" type="presOf" srcId="{FCF7C441-7C83-4A5D-B1E0-9F127699BCDC}" destId="{C4C41C6E-DC43-40CC-9D07-5C3E4AF4BDE8}" srcOrd="0" destOrd="0" presId="urn:microsoft.com/office/officeart/2005/8/layout/process1"/>
    <dgm:cxn modelId="{88EBC585-623B-4312-8E55-0836300C7AC5}" type="presOf" srcId="{4F5E2966-B6B2-4678-93B4-3803C792EC9A}" destId="{FF2ACC79-4DAB-4BA2-B960-B590C77D717B}" srcOrd="0" destOrd="0" presId="urn:microsoft.com/office/officeart/2005/8/layout/process1"/>
    <dgm:cxn modelId="{B93046AE-A962-4C78-91D5-838960EB6FF1}" type="presOf" srcId="{01351E4F-DB53-44F4-8EEB-5DABAA1E62AD}" destId="{37631DB5-B7DA-4563-80A4-C9D5CDFF0417}" srcOrd="0" destOrd="0" presId="urn:microsoft.com/office/officeart/2005/8/layout/process1"/>
    <dgm:cxn modelId="{5A758DC4-9FF3-4F23-8A41-930EB15D618B}" type="presOf" srcId="{9242AD1B-8DF0-4FE0-973D-3DFD6712EBAB}" destId="{6B22C2EB-DAAB-477C-853B-3D68C9808128}" srcOrd="1" destOrd="0" presId="urn:microsoft.com/office/officeart/2005/8/layout/process1"/>
    <dgm:cxn modelId="{95C289D8-AE9E-46AB-AF1F-581FB1E72B2D}" type="presOf" srcId="{10C7658B-B3B8-4E11-9432-478BCAA8A8C5}" destId="{BB774484-701B-4A9C-B350-AEC40E24A45C}" srcOrd="0" destOrd="0" presId="urn:microsoft.com/office/officeart/2005/8/layout/process1"/>
    <dgm:cxn modelId="{832777E1-E88A-4B12-ACBD-E3583D276E33}" type="presOf" srcId="{C1DD7863-1D98-4B25-BA51-D1ACF00A98B0}" destId="{C6FC616A-CC22-48BE-8CE1-52C98A9B8647}" srcOrd="0" destOrd="0" presId="urn:microsoft.com/office/officeart/2005/8/layout/process1"/>
    <dgm:cxn modelId="{763D52E9-9D50-464B-B171-9238B37CD729}" srcId="{ED9C4FED-2F17-4FE1-8760-5B8565F845C9}" destId="{4F5E2966-B6B2-4678-93B4-3803C792EC9A}" srcOrd="2" destOrd="0" parTransId="{BF123236-5EE5-4C88-A6F4-652CEC17B6A2}" sibTransId="{9242AD1B-8DF0-4FE0-973D-3DFD6712EBAB}"/>
    <dgm:cxn modelId="{B50B9F3E-5889-4596-AC85-56DC4E83602F}" type="presParOf" srcId="{6EAB72A0-2129-44DD-A1C1-E5F490CB8115}" destId="{BB774484-701B-4A9C-B350-AEC40E24A45C}" srcOrd="0" destOrd="0" presId="urn:microsoft.com/office/officeart/2005/8/layout/process1"/>
    <dgm:cxn modelId="{E3FB5FDF-ECF5-4AFA-80F3-E044E218E78A}" type="presParOf" srcId="{6EAB72A0-2129-44DD-A1C1-E5F490CB8115}" destId="{C6FC616A-CC22-48BE-8CE1-52C98A9B8647}" srcOrd="1" destOrd="0" presId="urn:microsoft.com/office/officeart/2005/8/layout/process1"/>
    <dgm:cxn modelId="{946ED772-F14F-4A98-A0E4-0DDB58FFA87E}" type="presParOf" srcId="{C6FC616A-CC22-48BE-8CE1-52C98A9B8647}" destId="{83E71DC0-EB38-4CF9-9247-60117DC1DA77}" srcOrd="0" destOrd="0" presId="urn:microsoft.com/office/officeart/2005/8/layout/process1"/>
    <dgm:cxn modelId="{11E24D72-2A46-4CC6-9CA0-C8C5827B34FE}" type="presParOf" srcId="{6EAB72A0-2129-44DD-A1C1-E5F490CB8115}" destId="{37631DB5-B7DA-4563-80A4-C9D5CDFF0417}" srcOrd="2" destOrd="0" presId="urn:microsoft.com/office/officeart/2005/8/layout/process1"/>
    <dgm:cxn modelId="{A6AA0137-8796-4F0C-A8DC-896E89B85F02}" type="presParOf" srcId="{6EAB72A0-2129-44DD-A1C1-E5F490CB8115}" destId="{511BFE05-BA24-42BE-A3B0-5298D915A910}" srcOrd="3" destOrd="0" presId="urn:microsoft.com/office/officeart/2005/8/layout/process1"/>
    <dgm:cxn modelId="{D6CB9C32-812C-4A23-A975-4E81257ABA8D}" type="presParOf" srcId="{511BFE05-BA24-42BE-A3B0-5298D915A910}" destId="{3ECA8D5D-5CF2-498E-9B40-3F8BE8BF3268}" srcOrd="0" destOrd="0" presId="urn:microsoft.com/office/officeart/2005/8/layout/process1"/>
    <dgm:cxn modelId="{F0A58384-32DE-4C40-AFAC-46BA14EA35A6}" type="presParOf" srcId="{6EAB72A0-2129-44DD-A1C1-E5F490CB8115}" destId="{FF2ACC79-4DAB-4BA2-B960-B590C77D717B}" srcOrd="4" destOrd="0" presId="urn:microsoft.com/office/officeart/2005/8/layout/process1"/>
    <dgm:cxn modelId="{06775BD4-F526-45DF-B9A0-0E0676DCE5C4}" type="presParOf" srcId="{6EAB72A0-2129-44DD-A1C1-E5F490CB8115}" destId="{D41023DC-5C94-4AF7-A5C8-1ACDA683C163}" srcOrd="5" destOrd="0" presId="urn:microsoft.com/office/officeart/2005/8/layout/process1"/>
    <dgm:cxn modelId="{6E987E1C-0857-4123-8979-8B8600E00027}" type="presParOf" srcId="{D41023DC-5C94-4AF7-A5C8-1ACDA683C163}" destId="{6B22C2EB-DAAB-477C-853B-3D68C9808128}" srcOrd="0" destOrd="0" presId="urn:microsoft.com/office/officeart/2005/8/layout/process1"/>
    <dgm:cxn modelId="{889A9CAE-2D10-40A3-98BC-525E04D81411}" type="presParOf" srcId="{6EAB72A0-2129-44DD-A1C1-E5F490CB8115}" destId="{C4C41C6E-DC43-40CC-9D07-5C3E4AF4BDE8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8A65F7-1240-439E-8813-2C1F4C956B86}">
      <dsp:nvSpPr>
        <dsp:cNvPr id="0" name=""/>
        <dsp:cNvSpPr/>
      </dsp:nvSpPr>
      <dsp:spPr>
        <a:xfrm>
          <a:off x="2678" y="1680616"/>
          <a:ext cx="1171277" cy="70276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Customer Data</a:t>
          </a:r>
        </a:p>
      </dsp:txBody>
      <dsp:txXfrm>
        <a:off x="23261" y="1701199"/>
        <a:ext cx="1130111" cy="661600"/>
      </dsp:txXfrm>
    </dsp:sp>
    <dsp:sp modelId="{61D74631-2083-4A88-9751-0966D5528CD1}">
      <dsp:nvSpPr>
        <dsp:cNvPr id="0" name=""/>
        <dsp:cNvSpPr/>
      </dsp:nvSpPr>
      <dsp:spPr>
        <a:xfrm>
          <a:off x="1291083" y="1886761"/>
          <a:ext cx="248310" cy="290476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300" kern="1200"/>
        </a:p>
      </dsp:txBody>
      <dsp:txXfrm>
        <a:off x="1291083" y="1944856"/>
        <a:ext cx="173817" cy="174286"/>
      </dsp:txXfrm>
    </dsp:sp>
    <dsp:sp modelId="{4980248E-EB54-4833-A3C0-6FFD6D8BE692}">
      <dsp:nvSpPr>
        <dsp:cNvPr id="0" name=""/>
        <dsp:cNvSpPr/>
      </dsp:nvSpPr>
      <dsp:spPr>
        <a:xfrm>
          <a:off x="1642467" y="1680616"/>
          <a:ext cx="1171277" cy="702766"/>
        </a:xfrm>
        <a:prstGeom prst="roundRect">
          <a:avLst>
            <a:gd name="adj" fmla="val 10000"/>
          </a:avLst>
        </a:prstGeom>
        <a:solidFill>
          <a:schemeClr val="accent4">
            <a:hueOff val="-2237536"/>
            <a:satOff val="-15736"/>
            <a:lumOff val="2418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Decision Logic</a:t>
          </a:r>
        </a:p>
      </dsp:txBody>
      <dsp:txXfrm>
        <a:off x="1663050" y="1701199"/>
        <a:ext cx="1130111" cy="661600"/>
      </dsp:txXfrm>
    </dsp:sp>
    <dsp:sp modelId="{565B90FE-B868-4378-B36D-91722CBA0E2B}">
      <dsp:nvSpPr>
        <dsp:cNvPr id="0" name=""/>
        <dsp:cNvSpPr/>
      </dsp:nvSpPr>
      <dsp:spPr>
        <a:xfrm>
          <a:off x="2930872" y="1886761"/>
          <a:ext cx="248310" cy="290476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-3356304"/>
            <a:satOff val="-23604"/>
            <a:lumOff val="3628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300" kern="1200"/>
        </a:p>
      </dsp:txBody>
      <dsp:txXfrm>
        <a:off x="2930872" y="1944856"/>
        <a:ext cx="173817" cy="174286"/>
      </dsp:txXfrm>
    </dsp:sp>
    <dsp:sp modelId="{521A5CEC-351A-4D02-A4DF-E05CB2FC97B4}">
      <dsp:nvSpPr>
        <dsp:cNvPr id="0" name=""/>
        <dsp:cNvSpPr/>
      </dsp:nvSpPr>
      <dsp:spPr>
        <a:xfrm>
          <a:off x="3282255" y="1680616"/>
          <a:ext cx="1171277" cy="702766"/>
        </a:xfrm>
        <a:prstGeom prst="roundRect">
          <a:avLst>
            <a:gd name="adj" fmla="val 10000"/>
          </a:avLst>
        </a:prstGeom>
        <a:solidFill>
          <a:schemeClr val="accent4">
            <a:hueOff val="-4475073"/>
            <a:satOff val="-31472"/>
            <a:lumOff val="4837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Actions</a:t>
          </a:r>
        </a:p>
      </dsp:txBody>
      <dsp:txXfrm>
        <a:off x="3302838" y="1701199"/>
        <a:ext cx="1130111" cy="661600"/>
      </dsp:txXfrm>
    </dsp:sp>
    <dsp:sp modelId="{D8FF5863-2962-4F73-A85B-A78406CCFB7E}">
      <dsp:nvSpPr>
        <dsp:cNvPr id="0" name=""/>
        <dsp:cNvSpPr/>
      </dsp:nvSpPr>
      <dsp:spPr>
        <a:xfrm>
          <a:off x="4570660" y="1886761"/>
          <a:ext cx="248310" cy="290476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-6712609"/>
            <a:satOff val="-47208"/>
            <a:lumOff val="7255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300" kern="1200"/>
        </a:p>
      </dsp:txBody>
      <dsp:txXfrm>
        <a:off x="4570660" y="1944856"/>
        <a:ext cx="173817" cy="174286"/>
      </dsp:txXfrm>
    </dsp:sp>
    <dsp:sp modelId="{24B654E4-33E0-464C-8AC0-882598004850}">
      <dsp:nvSpPr>
        <dsp:cNvPr id="0" name=""/>
        <dsp:cNvSpPr/>
      </dsp:nvSpPr>
      <dsp:spPr>
        <a:xfrm>
          <a:off x="4922043" y="1680616"/>
          <a:ext cx="1171277" cy="702766"/>
        </a:xfrm>
        <a:prstGeom prst="roundRect">
          <a:avLst>
            <a:gd name="adj" fmla="val 10000"/>
          </a:avLst>
        </a:prstGeom>
        <a:solidFill>
          <a:schemeClr val="accent4">
            <a:hueOff val="-6712609"/>
            <a:satOff val="-47208"/>
            <a:lumOff val="7255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Learning Loop</a:t>
          </a:r>
          <a:endParaRPr lang="en-IN" sz="1800" kern="1200" dirty="0"/>
        </a:p>
      </dsp:txBody>
      <dsp:txXfrm>
        <a:off x="4942626" y="1701199"/>
        <a:ext cx="1130111" cy="6616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774484-701B-4A9C-B350-AEC40E24A45C}">
      <dsp:nvSpPr>
        <dsp:cNvPr id="0" name=""/>
        <dsp:cNvSpPr/>
      </dsp:nvSpPr>
      <dsp:spPr>
        <a:xfrm>
          <a:off x="2979" y="100331"/>
          <a:ext cx="1302855" cy="78171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Inputs</a:t>
          </a:r>
        </a:p>
      </dsp:txBody>
      <dsp:txXfrm>
        <a:off x="25875" y="123227"/>
        <a:ext cx="1257063" cy="735921"/>
      </dsp:txXfrm>
    </dsp:sp>
    <dsp:sp modelId="{C6FC616A-CC22-48BE-8CE1-52C98A9B8647}">
      <dsp:nvSpPr>
        <dsp:cNvPr id="0" name=""/>
        <dsp:cNvSpPr/>
      </dsp:nvSpPr>
      <dsp:spPr>
        <a:xfrm>
          <a:off x="1436121" y="329633"/>
          <a:ext cx="276205" cy="323108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700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/>
        </a:p>
      </dsp:txBody>
      <dsp:txXfrm>
        <a:off x="1436121" y="394255"/>
        <a:ext cx="193344" cy="193864"/>
      </dsp:txXfrm>
    </dsp:sp>
    <dsp:sp modelId="{37631DB5-B7DA-4563-80A4-C9D5CDFF0417}">
      <dsp:nvSpPr>
        <dsp:cNvPr id="0" name=""/>
        <dsp:cNvSpPr/>
      </dsp:nvSpPr>
      <dsp:spPr>
        <a:xfrm>
          <a:off x="1826978" y="100331"/>
          <a:ext cx="1302855" cy="781713"/>
        </a:xfrm>
        <a:prstGeom prst="roundRect">
          <a:avLst>
            <a:gd name="adj" fmla="val 10000"/>
          </a:avLst>
        </a:prstGeom>
        <a:solidFill>
          <a:schemeClr val="accent3">
            <a:hueOff val="504923"/>
            <a:satOff val="-862"/>
            <a:lumOff val="5359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Risk Score</a:t>
          </a:r>
        </a:p>
      </dsp:txBody>
      <dsp:txXfrm>
        <a:off x="1849874" y="123227"/>
        <a:ext cx="1257063" cy="735921"/>
      </dsp:txXfrm>
    </dsp:sp>
    <dsp:sp modelId="{511BFE05-BA24-42BE-A3B0-5298D915A910}">
      <dsp:nvSpPr>
        <dsp:cNvPr id="0" name=""/>
        <dsp:cNvSpPr/>
      </dsp:nvSpPr>
      <dsp:spPr>
        <a:xfrm>
          <a:off x="3260119" y="329633"/>
          <a:ext cx="276205" cy="323108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757384"/>
            <a:satOff val="-1292"/>
            <a:lumOff val="8039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700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/>
        </a:p>
      </dsp:txBody>
      <dsp:txXfrm>
        <a:off x="3260119" y="394255"/>
        <a:ext cx="193344" cy="193864"/>
      </dsp:txXfrm>
    </dsp:sp>
    <dsp:sp modelId="{FF2ACC79-4DAB-4BA2-B960-B590C77D717B}">
      <dsp:nvSpPr>
        <dsp:cNvPr id="0" name=""/>
        <dsp:cNvSpPr/>
      </dsp:nvSpPr>
      <dsp:spPr>
        <a:xfrm>
          <a:off x="3650976" y="100331"/>
          <a:ext cx="1302855" cy="781713"/>
        </a:xfrm>
        <a:prstGeom prst="roundRect">
          <a:avLst>
            <a:gd name="adj" fmla="val 10000"/>
          </a:avLst>
        </a:prstGeom>
        <a:solidFill>
          <a:schemeClr val="accent3">
            <a:hueOff val="1009846"/>
            <a:satOff val="-1723"/>
            <a:lumOff val="10719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Actions</a:t>
          </a:r>
        </a:p>
      </dsp:txBody>
      <dsp:txXfrm>
        <a:off x="3673872" y="123227"/>
        <a:ext cx="1257063" cy="735921"/>
      </dsp:txXfrm>
    </dsp:sp>
    <dsp:sp modelId="{D41023DC-5C94-4AF7-A5C8-1ACDA683C163}">
      <dsp:nvSpPr>
        <dsp:cNvPr id="0" name=""/>
        <dsp:cNvSpPr/>
      </dsp:nvSpPr>
      <dsp:spPr>
        <a:xfrm>
          <a:off x="5084117" y="329633"/>
          <a:ext cx="276205" cy="323108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1514768"/>
            <a:satOff val="-2585"/>
            <a:lumOff val="16078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700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/>
        </a:p>
      </dsp:txBody>
      <dsp:txXfrm>
        <a:off x="5084117" y="394255"/>
        <a:ext cx="193344" cy="193864"/>
      </dsp:txXfrm>
    </dsp:sp>
    <dsp:sp modelId="{C4C41C6E-DC43-40CC-9D07-5C3E4AF4BDE8}">
      <dsp:nvSpPr>
        <dsp:cNvPr id="0" name=""/>
        <dsp:cNvSpPr/>
      </dsp:nvSpPr>
      <dsp:spPr>
        <a:xfrm>
          <a:off x="5474974" y="100331"/>
          <a:ext cx="1302855" cy="781713"/>
        </a:xfrm>
        <a:prstGeom prst="roundRect">
          <a:avLst>
            <a:gd name="adj" fmla="val 10000"/>
          </a:avLst>
        </a:prstGeom>
        <a:solidFill>
          <a:schemeClr val="accent3">
            <a:hueOff val="1514768"/>
            <a:satOff val="-2585"/>
            <a:lumOff val="16078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Feedback loop</a:t>
          </a:r>
        </a:p>
      </dsp:txBody>
      <dsp:txXfrm>
        <a:off x="5497870" y="123227"/>
        <a:ext cx="1257063" cy="7359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Generate a simple outline for an AI collections system workflow, including inputs, decision logic, action triggers, and learning loop.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key customer attributes that would be most predictive for collections decision-making, and explain why each one matters.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examples of business rules and AI-driven actions the system could use at different risk levels (e.g., low, medium, high risk).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Create a rough sketch or step-by-step description of how customer data flows through the system from intake to action.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Explain how agentic AI could automate financial collections while keeping humans in critical decision points.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examples of collection actions, and classify each as best suited for full automation or requiring human oversight, with a brief reason why.</a:t>
            </a:r>
          </a:p>
          <a:p>
            <a:pPr marL="15875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84419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key fairness, transparency, and compliance practices to build into an AI-powered credit collections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specific ways to monitor and audit the system over time to ensure it stays fair, compliant, and effective.</a:t>
            </a:r>
          </a:p>
          <a:p>
            <a:r>
              <a:rPr lang="en-IN" dirty="0"/>
              <a:t>ECOA – Equal Credit Opportunity Act</a:t>
            </a:r>
          </a:p>
          <a:p>
            <a:r>
              <a:rPr lang="en-IN" dirty="0"/>
              <a:t>GDPR – General Data Protection Regulation</a:t>
            </a:r>
          </a:p>
        </p:txBody>
      </p:sp>
    </p:spTree>
    <p:extLst>
      <p:ext uri="{BB962C8B-B14F-4D97-AF65-F5344CB8AC3E}">
        <p14:creationId xmlns:p14="http://schemas.microsoft.com/office/powerpoint/2010/main" val="26193816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16fb96bf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16fb96bf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KPIs for an AI-powered collections strategy that balances business outcomes with customer fairness.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Describe 2–3 ways an AI collections system could improve both operational efficiency and customer experience.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audio" Target="../media/audio2.wav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audio" Target="../media/audio2.wav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audio" Target="../media/audio2.wav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audio" Target="../media/audio3.wav"/><Relationship Id="rId5" Type="http://schemas.openxmlformats.org/officeDocument/2006/relationships/hyperlink" Target="https://www.business-reporter.co.uk/risk-management/ai-evolving-how-to-keep-humans-involved" TargetMode="External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audio" Target="../media/audio2.wav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audio" Target="../media/audio4.wav"/><Relationship Id="rId3" Type="http://schemas.openxmlformats.org/officeDocument/2006/relationships/audio" Target="../media/audio4.wav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/>
              <a:t>AI-Powered Collections Strategy</a:t>
            </a:r>
            <a:endParaRPr sz="3000" dirty="0"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80301" y="3049450"/>
            <a:ext cx="5896155" cy="9051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Leveraging Agentic AI for Scalable, Fair, and Effective Debt Management at Geldium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806904-0AAF-AABF-BB27-6D8682FB49ED}"/>
              </a:ext>
            </a:extLst>
          </p:cNvPr>
          <p:cNvSpPr txBox="1"/>
          <p:nvPr/>
        </p:nvSpPr>
        <p:spPr>
          <a:xfrm>
            <a:off x="5391397" y="4053798"/>
            <a:ext cx="15279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rgbClr val="92D050"/>
                </a:solidFill>
              </a:rPr>
              <a:t>Aishwarya Raut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  <p:sndAc>
          <p:stSnd>
            <p:snd r:embed="rId3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How the System Works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808368F6-315D-6E95-908E-7CF2AEA4F4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65037192"/>
              </p:ext>
            </p:extLst>
          </p:nvPr>
        </p:nvGraphicFramePr>
        <p:xfrm>
          <a:off x="1524000" y="621475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  <p:sndAc>
          <p:stSnd>
            <p:snd r:embed="rId3" name="click.wav"/>
          </p:stSnd>
        </p:sndAc>
      </p:transition>
    </mc:Choice>
    <mc:Fallback xmlns="">
      <p:transition spd="slow">
        <p:fade/>
        <p:sndAc>
          <p:stSnd>
            <p:snd r:embed="rId9" name="click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2D334-5E6E-BFF1-086E-F2E035C29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the System Works - Inputs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C0D8B8-3AD7-016E-399C-2F40056154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7899" y="1489824"/>
            <a:ext cx="8566095" cy="3058425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IN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Customer Data           </a:t>
            </a:r>
            <a:r>
              <a:rPr lang="en-IN" dirty="0"/>
              <a:t>: Age, Employment_Status, Location</a:t>
            </a: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Financial Data             </a:t>
            </a:r>
            <a:r>
              <a:rPr lang="en-IN" dirty="0"/>
              <a:t>: Credit_Score, Loan_Balance, Debt_to_income ratio</a:t>
            </a: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Behavioural Data        </a:t>
            </a:r>
            <a:r>
              <a:rPr lang="en-IN" dirty="0"/>
              <a:t>: Missed_payments, Monthly payment history (Month_1-Month_6)</a:t>
            </a:r>
          </a:p>
        </p:txBody>
      </p:sp>
      <p:pic>
        <p:nvPicPr>
          <p:cNvPr id="5" name="Graphic 4" descr="User with solid fill">
            <a:extLst>
              <a:ext uri="{FF2B5EF4-FFF2-40B4-BE49-F238E27FC236}">
                <a16:creationId xmlns:a16="http://schemas.microsoft.com/office/drawing/2014/main" id="{A08B4046-76B3-844E-013C-BF66913E4A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01069" y="1632328"/>
            <a:ext cx="568701" cy="568701"/>
          </a:xfrm>
          <a:prstGeom prst="rect">
            <a:avLst/>
          </a:prstGeom>
        </p:spPr>
      </p:pic>
      <p:pic>
        <p:nvPicPr>
          <p:cNvPr id="11" name="Graphic 10" descr="Monthly calendar with solid fill">
            <a:extLst>
              <a:ext uri="{FF2B5EF4-FFF2-40B4-BE49-F238E27FC236}">
                <a16:creationId xmlns:a16="http://schemas.microsoft.com/office/drawing/2014/main" id="{0F9F643A-5B79-D0CB-9C28-E2DD1FA0DC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19822" y="2744923"/>
            <a:ext cx="568702" cy="568702"/>
          </a:xfrm>
          <a:prstGeom prst="rect">
            <a:avLst/>
          </a:prstGeom>
        </p:spPr>
      </p:pic>
      <p:pic>
        <p:nvPicPr>
          <p:cNvPr id="13" name="Graphic 12" descr="Dollar with solid fill">
            <a:extLst>
              <a:ext uri="{FF2B5EF4-FFF2-40B4-BE49-F238E27FC236}">
                <a16:creationId xmlns:a16="http://schemas.microsoft.com/office/drawing/2014/main" id="{F6617521-14EA-00C4-20C4-2A557E79281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60444" y="2248001"/>
            <a:ext cx="449949" cy="449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279632"/>
      </p:ext>
    </p:extLst>
  </p:cSld>
  <p:clrMapOvr>
    <a:masterClrMapping/>
  </p:clrMapOvr>
  <p:transition spd="slow">
    <p:wipe/>
    <p:sndAc>
      <p:stSnd>
        <p:snd r:embed="rId2" name="click.wav"/>
      </p:stSnd>
    </p:sndAc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7BEE5-5A96-B80C-CD75-545B36FF0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How the System Works - Decision Logic &amp; Action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ABE62F-408A-3E23-CF64-77113E06BD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sz="16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Decision Logic: </a:t>
            </a:r>
            <a:r>
              <a:rPr lang="en-IN" sz="1600" dirty="0"/>
              <a:t>Risk scoring based on predictors (missed payments, utilization, debt ratio)</a:t>
            </a:r>
          </a:p>
          <a:p>
            <a:r>
              <a:rPr lang="en-IN" sz="16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Actions: </a:t>
            </a:r>
            <a:r>
              <a:rPr lang="en-IN" sz="1600" dirty="0"/>
              <a:t>Flag high-risk customers, trigger outreach campaigns, adjust credit limits</a:t>
            </a:r>
          </a:p>
          <a:p>
            <a:r>
              <a:rPr lang="en-IN" sz="16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Learning Loop: </a:t>
            </a:r>
            <a:r>
              <a:rPr lang="en-IN" sz="1600" dirty="0"/>
              <a:t>Model retrains with new data to improve accuracy and fairness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67A80078-9EEE-53AD-0CB6-06595204B14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3087888"/>
              </p:ext>
            </p:extLst>
          </p:nvPr>
        </p:nvGraphicFramePr>
        <p:xfrm>
          <a:off x="1181595" y="3586348"/>
          <a:ext cx="6780810" cy="9823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309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  <p:sndAc>
          <p:stSnd>
            <p:snd r:embed="rId2" name="click.wav"/>
          </p:stSnd>
        </p:sndAc>
      </p:transition>
    </mc:Choice>
    <mc:Fallback xmlns="">
      <p:transition spd="slow">
        <p:fade/>
        <p:sndAc>
          <p:stSnd>
            <p:snd r:embed="rId8" name="click.wav"/>
          </p:stSnd>
        </p:sndAc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erson looking at another person's face&#10;&#10;AI-generated content may be incorrect.">
            <a:extLst>
              <a:ext uri="{FF2B5EF4-FFF2-40B4-BE49-F238E27FC236}">
                <a16:creationId xmlns:a16="http://schemas.microsoft.com/office/drawing/2014/main" id="{738CBA8C-D605-1803-BE08-E207EFC8E1A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 flipH="1">
            <a:off x="-2" y="0"/>
            <a:ext cx="9144001" cy="51222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D9BCFA-CDDB-6C94-1F0B-14B76E804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Role of Agentic AI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01F8BB-2E5C-23B9-FBC9-6D0B504C23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7900" y="1675026"/>
            <a:ext cx="3999900" cy="2695093"/>
          </a:xfrm>
        </p:spPr>
        <p:txBody>
          <a:bodyPr/>
          <a:lstStyle/>
          <a:p>
            <a:pPr marL="139700" indent="0" algn="ctr">
              <a:buNone/>
            </a:pPr>
            <a:r>
              <a:rPr lang="en-IN" sz="2000" b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AI Automation </a:t>
            </a:r>
          </a:p>
          <a:p>
            <a:pPr marL="139700" indent="0" algn="ctr">
              <a:buNone/>
            </a:pPr>
            <a:endParaRPr lang="en-IN" sz="2000" b="1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IN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Automated scoring</a:t>
            </a:r>
          </a:p>
          <a:p>
            <a:r>
              <a:rPr lang="en-IN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Sending reminder emails/ SMS </a:t>
            </a:r>
          </a:p>
          <a:p>
            <a:r>
              <a:rPr lang="en-IN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Portfolio monitoring &amp; trend detection</a:t>
            </a:r>
          </a:p>
          <a:p>
            <a:r>
              <a:rPr lang="en-IN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Updating risk scores with new data (learning loop)</a:t>
            </a:r>
          </a:p>
          <a:p>
            <a:endParaRPr lang="en-IN" dirty="0"/>
          </a:p>
          <a:p>
            <a:r>
              <a:rPr lang="en-IN" dirty="0"/>
              <a:t>AI accelerates detection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937D62-BB53-D471-22D3-4109A5DA159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765949" y="1675026"/>
            <a:ext cx="3999900" cy="2695092"/>
          </a:xfrm>
        </p:spPr>
        <p:txBody>
          <a:bodyPr/>
          <a:lstStyle/>
          <a:p>
            <a:pPr marL="139700" indent="0" algn="ctr">
              <a:buNone/>
            </a:pPr>
            <a:r>
              <a:rPr lang="en-IN" sz="2000" b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Human oversight</a:t>
            </a:r>
          </a:p>
          <a:p>
            <a:pPr marL="139700" indent="0" algn="ctr">
              <a:buNone/>
            </a:pPr>
            <a:endParaRPr lang="en-IN" sz="2000" b="1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IN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Collection team review flagged accounts</a:t>
            </a:r>
          </a:p>
          <a:p>
            <a:r>
              <a:rPr lang="en-IN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Design repayment plans</a:t>
            </a:r>
          </a:p>
          <a:p>
            <a:r>
              <a:rPr lang="en-IN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Approving credit limit adjustments/escalations</a:t>
            </a:r>
          </a:p>
          <a:p>
            <a:r>
              <a:rPr lang="en-IN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Handling exceptions, disputes /sensitive customer cases</a:t>
            </a:r>
            <a:endParaRPr lang="en-IN" dirty="0"/>
          </a:p>
          <a:p>
            <a:r>
              <a:rPr lang="en-IN" dirty="0"/>
              <a:t>Human ensure fairness &amp; empathy</a:t>
            </a:r>
          </a:p>
        </p:txBody>
      </p:sp>
    </p:spTree>
    <p:extLst>
      <p:ext uri="{BB962C8B-B14F-4D97-AF65-F5344CB8AC3E}">
        <p14:creationId xmlns:p14="http://schemas.microsoft.com/office/powerpoint/2010/main" val="1493306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  <p:sndAc>
          <p:stSnd>
            <p:snd r:embed="rId3" name="laser.wav"/>
          </p:stSnd>
        </p:sndAc>
      </p:transition>
    </mc:Choice>
    <mc:Fallback xmlns="">
      <p:transition spd="slow">
        <p:fade/>
        <p:sndAc>
          <p:stSnd>
            <p:snd r:embed="rId6" name="laser.wav"/>
          </p:stSnd>
        </p:sndAc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75E02-83DF-96F0-6367-97F35F4A6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Responsible AI Guardrails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B3F977-ABE1-2294-4A77-E1EA0D6E86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 algn="ctr">
              <a:buNone/>
            </a:pPr>
            <a:r>
              <a:rPr lang="en-IN" sz="2000" b="1" dirty="0"/>
              <a:t>Fairness</a:t>
            </a:r>
          </a:p>
          <a:p>
            <a:pPr marL="139700" indent="0" algn="ctr">
              <a:buNone/>
            </a:pPr>
            <a:r>
              <a:rPr lang="en-IN" dirty="0"/>
              <a:t>Bias audit across Age, Employment &amp; Location groups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139700" indent="0" algn="ctr">
              <a:buNone/>
            </a:pPr>
            <a:r>
              <a:rPr lang="en-IN" sz="2000" b="1" dirty="0"/>
              <a:t>Compliance</a:t>
            </a:r>
          </a:p>
          <a:p>
            <a:pPr marL="139700" indent="0" algn="ctr">
              <a:buNone/>
            </a:pPr>
            <a:r>
              <a:rPr lang="en-IN" dirty="0"/>
              <a:t>Aligns with financial regulations and audit requirements (ECOA,GDPR &amp; local laws)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6FB419-FE2B-E5E3-538C-06EC617E290D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139700" indent="0" algn="ctr">
              <a:buNone/>
            </a:pPr>
            <a:r>
              <a:rPr lang="en-IN" sz="2000" b="1" dirty="0"/>
              <a:t>Explainability</a:t>
            </a:r>
          </a:p>
          <a:p>
            <a:pPr marL="139700" indent="0" algn="ctr">
              <a:buNone/>
            </a:pPr>
            <a:r>
              <a:rPr lang="en-IN" dirty="0"/>
              <a:t>Clear communication of why a customer is flagged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139700" indent="0" algn="ctr">
              <a:buNone/>
            </a:pPr>
            <a:r>
              <a:rPr lang="en-IN" sz="2000" b="1" dirty="0"/>
              <a:t>Oversight</a:t>
            </a:r>
          </a:p>
          <a:p>
            <a:pPr marL="139700" indent="0" algn="ctr">
              <a:buNone/>
            </a:pPr>
            <a:r>
              <a:rPr lang="en-IN" dirty="0"/>
              <a:t>Human review for critical decisions</a:t>
            </a:r>
          </a:p>
        </p:txBody>
      </p:sp>
      <p:pic>
        <p:nvPicPr>
          <p:cNvPr id="6" name="Graphic 5" descr="Shield with solid fill">
            <a:extLst>
              <a:ext uri="{FF2B5EF4-FFF2-40B4-BE49-F238E27FC236}">
                <a16:creationId xmlns:a16="http://schemas.microsoft.com/office/drawing/2014/main" id="{0ADEDDBC-B567-3AE3-073B-A65A52D356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43721" y="2091472"/>
            <a:ext cx="1256558" cy="1256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461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  <p:sndAc>
          <p:stSnd>
            <p:snd r:embed="rId3" name="click.wav"/>
          </p:stSnd>
        </p:sndAc>
      </p:transition>
    </mc:Choice>
    <mc:Fallback xmlns="">
      <p:transition spd="slow">
        <p:fade/>
        <p:sndAc>
          <p:stSnd>
            <p:snd r:embed="rId6" name="click.wav"/>
          </p:stSnd>
        </p:sndAc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/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Expected Business Impact</a:t>
            </a:r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/>
        <p:txBody>
          <a:bodyPr spcFirstLastPara="1" lIns="91425" tIns="91425" rIns="91425" bIns="91425" anchor="t" anchorCtr="0">
            <a:normAutofit/>
          </a:bodyPr>
          <a:lstStyle/>
          <a:p>
            <a:pPr marL="114300" indent="0" algn="ctr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None/>
            </a:pPr>
            <a:r>
              <a:rPr lang="en-US" sz="1800" b="1" i="0" u="none" strike="noStrike" cap="none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Business KPIs (Quantitative outcomes) </a:t>
            </a:r>
          </a:p>
          <a:p>
            <a:pPr marL="400050" indent="-285750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</a:pPr>
            <a:r>
              <a:rPr lang="en-US" sz="1200" b="0" i="0" u="none" strike="noStrike" cap="none" dirty="0"/>
              <a:t>Reduced delinquency rates by  15% in 12 months</a:t>
            </a:r>
          </a:p>
          <a:p>
            <a:pPr marL="400050" indent="-285750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</a:pPr>
            <a:r>
              <a:rPr lang="en-US" sz="1200" b="0" i="0" u="none" strike="noStrike" cap="none" dirty="0"/>
              <a:t> </a:t>
            </a:r>
            <a:r>
              <a:rPr lang="en-US" sz="1200" dirty="0"/>
              <a:t>I</a:t>
            </a:r>
            <a:r>
              <a:rPr lang="en-US" sz="1200" b="0" i="0" u="none" strike="noStrike" cap="none" dirty="0"/>
              <a:t>ncreased repayment rates by 10%</a:t>
            </a:r>
          </a:p>
          <a:p>
            <a:pPr marL="400050" indent="-285750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</a:pPr>
            <a:r>
              <a:rPr lang="en-US" sz="1200" dirty="0"/>
              <a:t>Lower operational </a:t>
            </a:r>
            <a:r>
              <a:rPr lang="en-US" sz="1200" b="0" i="0" u="none" strike="noStrike" cap="none" dirty="0"/>
              <a:t>cost through automation &amp; efficiency gains</a:t>
            </a:r>
          </a:p>
          <a:p>
            <a:pPr marL="400050" indent="-285750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</a:pPr>
            <a:r>
              <a:rPr lang="en-US" sz="1200" dirty="0"/>
              <a:t>Improve accuracy of risk detection (higher ROC-AUC scores)</a:t>
            </a:r>
            <a:endParaRPr lang="en-US" sz="1200" b="0" i="0" u="none" strike="noStrike" cap="none" dirty="0"/>
          </a:p>
          <a:p>
            <a:pPr marL="114300" indent="0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None/>
            </a:pPr>
            <a:endParaRPr lang="en-US" sz="1500" b="0" i="0" u="none" strike="noStrike" cap="non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8FD891-E4BF-90DE-15B9-1C8EC7B9308A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114300" indent="0" algn="ctr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None/>
            </a:pPr>
            <a:r>
              <a:rPr lang="en-US" sz="18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Customer Outcomes (Qualitative outcomes)</a:t>
            </a:r>
          </a:p>
          <a:p>
            <a:pPr marL="400050" indent="-285750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</a:pPr>
            <a:r>
              <a:rPr lang="en-US" dirty="0"/>
              <a:t> </a:t>
            </a:r>
            <a:r>
              <a:rPr lang="en-US" sz="1200" dirty="0"/>
              <a:t>Strengthened customer trust with proactive support</a:t>
            </a:r>
          </a:p>
          <a:p>
            <a:pPr marL="400050" indent="-285750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</a:pPr>
            <a:r>
              <a:rPr lang="en-US" sz="1200" dirty="0"/>
              <a:t> Enhanced fairness, regulatory confidence with transparent, explainable models</a:t>
            </a:r>
          </a:p>
          <a:p>
            <a:pPr marL="400050" indent="-285750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</a:pPr>
            <a:r>
              <a:rPr lang="en-US" sz="1200" dirty="0"/>
              <a:t>Increased scalability </a:t>
            </a:r>
          </a:p>
          <a:p>
            <a:pPr marL="400050" indent="-285750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</a:pPr>
            <a:r>
              <a:rPr lang="en-US" sz="1200" dirty="0"/>
              <a:t>Empower Collection teams with actionable insights</a:t>
            </a:r>
          </a:p>
          <a:p>
            <a:endParaRPr lang="en-IN" dirty="0"/>
          </a:p>
        </p:txBody>
      </p:sp>
      <p:pic>
        <p:nvPicPr>
          <p:cNvPr id="3" name="Graphic 2" descr="Handshake with solid fill">
            <a:extLst>
              <a:ext uri="{FF2B5EF4-FFF2-40B4-BE49-F238E27FC236}">
                <a16:creationId xmlns:a16="http://schemas.microsoft.com/office/drawing/2014/main" id="{F8E84874-BDB1-41BF-6E40-B26128FD6B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96448" y="3392796"/>
            <a:ext cx="1559652" cy="1559652"/>
          </a:xfrm>
          <a:prstGeom prst="rect">
            <a:avLst/>
          </a:prstGeom>
          <a:ln>
            <a:noFill/>
          </a:ln>
        </p:spPr>
      </p:pic>
      <p:pic>
        <p:nvPicPr>
          <p:cNvPr id="5" name="Graphic 4" descr="Presentation with bar chart with solid fill">
            <a:extLst>
              <a:ext uri="{FF2B5EF4-FFF2-40B4-BE49-F238E27FC236}">
                <a16:creationId xmlns:a16="http://schemas.microsoft.com/office/drawing/2014/main" id="{37F47937-6D57-BFEE-414A-5D24F5D434A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72740" y="3583848"/>
            <a:ext cx="1177548" cy="11775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  <p:sndAc>
          <p:stSnd>
            <p:snd r:embed="rId3" name="coin.wav"/>
          </p:stSnd>
        </p:sndAc>
      </p:transition>
    </mc:Choice>
    <mc:Fallback xmlns="">
      <p:transition spd="slow">
        <p:fade/>
        <p:sndAc>
          <p:stSnd>
            <p:snd r:embed="rId8" name="coin.wav"/>
          </p:stSnd>
        </p:sndAc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F980C22-1A57-693B-D6CA-2EF2B4822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6600" b="1" dirty="0">
                <a:latin typeface="Vivaldi" panose="03020602050506090804" pitchFamily="66" charset="0"/>
              </a:rPr>
              <a:t>The End</a:t>
            </a:r>
            <a:endParaRPr lang="en-IN" sz="6600" b="1" dirty="0">
              <a:latin typeface="Vivaldi" panose="030206020505060908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7278463"/>
      </p:ext>
    </p:extLst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</TotalTime>
  <Words>555</Words>
  <Application>Microsoft Office PowerPoint</Application>
  <PresentationFormat>On-screen Show (16:9)</PresentationFormat>
  <Paragraphs>79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Roboto Slab</vt:lpstr>
      <vt:lpstr>Vivaldi</vt:lpstr>
      <vt:lpstr>Arial</vt:lpstr>
      <vt:lpstr>Roboto</vt:lpstr>
      <vt:lpstr>Marina</vt:lpstr>
      <vt:lpstr>AI-Powered Collections Strategy</vt:lpstr>
      <vt:lpstr>How the System Works</vt:lpstr>
      <vt:lpstr>How the System Works - Inputs</vt:lpstr>
      <vt:lpstr>How the System Works - Decision Logic &amp; Action</vt:lpstr>
      <vt:lpstr>Role of Agentic AI</vt:lpstr>
      <vt:lpstr>Responsible AI Guardrails</vt:lpstr>
      <vt:lpstr>Expected Business Impact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MonsterBlue</dc:creator>
  <cp:lastModifiedBy>Aishwarya Raut</cp:lastModifiedBy>
  <cp:revision>9</cp:revision>
  <dcterms:modified xsi:type="dcterms:W3CDTF">2026-04-27T15:13:21Z</dcterms:modified>
</cp:coreProperties>
</file>